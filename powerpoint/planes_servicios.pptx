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napToGrid="0">
      <p:cViewPr>
        <p:scale>
          <a:sx n="80" d="100"/>
          <a:sy n="80" d="100"/>
        </p:scale>
        <p:origin x="37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03/05/2015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170985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03/05/2015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4155460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3FD8A0D2-0E40-42EF-9892-428081B7FEEE}" type="datetimeFigureOut">
              <a:rPr lang="es-MX" smtClean="0"/>
              <a:t>03/05/2015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804079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3FD8A0D2-0E40-42EF-9892-428081B7FEEE}" type="datetimeFigureOut">
              <a:rPr lang="es-MX" smtClean="0"/>
              <a:t>03/05/2015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4286261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3FD8A0D2-0E40-42EF-9892-428081B7FEEE}" type="datetimeFigureOut">
              <a:rPr lang="es-MX" smtClean="0"/>
              <a:t>03/05/2015</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681764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3FD8A0D2-0E40-42EF-9892-428081B7FEEE}" type="datetimeFigureOut">
              <a:rPr lang="es-MX" smtClean="0"/>
              <a:t>03/05/2015</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817959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FD8A0D2-0E40-42EF-9892-428081B7FEEE}" type="datetimeFigureOut">
              <a:rPr lang="es-MX" smtClean="0"/>
              <a:t>03/05/2015</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722061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3FD8A0D2-0E40-42EF-9892-428081B7FEEE}" type="datetimeFigureOut">
              <a:rPr lang="es-MX" smtClean="0"/>
              <a:t>03/05/2015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2638688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3FD8A0D2-0E40-42EF-9892-428081B7FEEE}" type="datetimeFigureOut">
              <a:rPr lang="es-MX" smtClean="0"/>
              <a:t>03/05/2015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2816738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03/05/2015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434404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03/05/2015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1141444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8A0D2-0E40-42EF-9892-428081B7FEEE}" type="datetimeFigureOut">
              <a:rPr lang="es-MX" smtClean="0"/>
              <a:t>03/05/2015</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7D2B6-C4FD-4DFE-AFBA-0519F17EE441}" type="slidenum">
              <a:rPr lang="es-MX" smtClean="0"/>
              <a:t>‹Nº›</a:t>
            </a:fld>
            <a:endParaRPr lang="es-MX"/>
          </a:p>
        </p:txBody>
      </p:sp>
    </p:spTree>
    <p:extLst>
      <p:ext uri="{BB962C8B-B14F-4D97-AF65-F5344CB8AC3E}">
        <p14:creationId xmlns:p14="http://schemas.microsoft.com/office/powerpoint/2010/main" val="2664996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ángulo 30"/>
          <p:cNvSpPr/>
          <p:nvPr/>
        </p:nvSpPr>
        <p:spPr>
          <a:xfrm>
            <a:off x="1045665" y="-1803574"/>
            <a:ext cx="10297250" cy="11460893"/>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p:cNvSpPr txBox="1"/>
          <p:nvPr/>
        </p:nvSpPr>
        <p:spPr>
          <a:xfrm>
            <a:off x="1588657" y="-1018990"/>
            <a:ext cx="9240197" cy="923330"/>
          </a:xfrm>
          <a:prstGeom prst="rect">
            <a:avLst/>
          </a:prstGeom>
          <a:noFill/>
        </p:spPr>
        <p:txBody>
          <a:bodyPr wrap="square" rtlCol="0">
            <a:spAutoFit/>
          </a:bodyPr>
          <a:lstStyle/>
          <a:p>
            <a:pPr algn="just"/>
            <a:r>
              <a:rPr lang="es-MX" dirty="0">
                <a:solidFill>
                  <a:schemeClr val="bg1"/>
                </a:solidFill>
              </a:rPr>
              <a:t>Puede estar confiado que trabaja con lo mejor en el campo de sistemas web y tranquilo de que sus inversiones no se vean afectadas por situaciones exteriores, como es el caso de la información ya trabajada o el alojamiento en internet, entre otras cosas más</a:t>
            </a:r>
            <a:r>
              <a:rPr lang="es-MX" dirty="0" smtClean="0">
                <a:solidFill>
                  <a:schemeClr val="bg1"/>
                </a:solidFill>
              </a:rPr>
              <a:t>.</a:t>
            </a:r>
            <a:endParaRPr lang="es-MX" dirty="0">
              <a:solidFill>
                <a:schemeClr val="bg1"/>
              </a:solidFill>
            </a:endParaRPr>
          </a:p>
        </p:txBody>
      </p:sp>
      <p:sp>
        <p:nvSpPr>
          <p:cNvPr id="33" name="CuadroTexto 32"/>
          <p:cNvSpPr txBox="1"/>
          <p:nvPr/>
        </p:nvSpPr>
        <p:spPr>
          <a:xfrm>
            <a:off x="1574187" y="7795862"/>
            <a:ext cx="9240197" cy="1754326"/>
          </a:xfrm>
          <a:prstGeom prst="rect">
            <a:avLst/>
          </a:prstGeom>
          <a:noFill/>
        </p:spPr>
        <p:txBody>
          <a:bodyPr wrap="square" rtlCol="0">
            <a:spAutoFit/>
          </a:bodyPr>
          <a:lstStyle/>
          <a:p>
            <a:pPr algn="just"/>
            <a:r>
              <a:rPr lang="es-MX" dirty="0" smtClean="0">
                <a:solidFill>
                  <a:schemeClr val="bg1"/>
                </a:solidFill>
              </a:rPr>
              <a:t>El pago del plan por el diseño web que usted elija deberá cubrir el 50% de la tarifa total al inicio y el 50% al final del trabajo realizado.</a:t>
            </a:r>
          </a:p>
          <a:p>
            <a:pPr algn="just"/>
            <a:endParaRPr lang="es-MX" dirty="0" smtClean="0">
              <a:solidFill>
                <a:schemeClr val="bg1"/>
              </a:solidFill>
            </a:endParaRPr>
          </a:p>
          <a:p>
            <a:pPr algn="ctr"/>
            <a:r>
              <a:rPr lang="es-MX" b="1" dirty="0" smtClean="0">
                <a:solidFill>
                  <a:srgbClr val="FF0000"/>
                </a:solidFill>
              </a:rPr>
              <a:t>NOTA</a:t>
            </a:r>
            <a:r>
              <a:rPr lang="es-MX" b="1" dirty="0" smtClean="0">
                <a:solidFill>
                  <a:srgbClr val="FF0000"/>
                </a:solidFill>
              </a:rPr>
              <a:t>:</a:t>
            </a:r>
            <a:r>
              <a:rPr lang="es-MX" dirty="0" smtClean="0">
                <a:solidFill>
                  <a:schemeClr val="bg1"/>
                </a:solidFill>
              </a:rPr>
              <a:t> Las tablas restantes contienen información de los servicios que se ofrecen mensualmente como son mantenimiento en el Sitio Web, Facebook, agregando y/o quitando partes que usted desee ir cambiando a lo largo del tiempo.</a:t>
            </a:r>
            <a:endParaRPr lang="es-MX" dirty="0">
              <a:solidFill>
                <a:schemeClr val="bg1"/>
              </a:solidFill>
            </a:endParaRPr>
          </a:p>
        </p:txBody>
      </p:sp>
      <p:pic>
        <p:nvPicPr>
          <p:cNvPr id="34" name="Imagen 33"/>
          <p:cNvPicPr/>
          <p:nvPr/>
        </p:nvPicPr>
        <p:blipFill rotWithShape="1">
          <a:blip r:embed="rId2">
            <a:extLst>
              <a:ext uri="{28A0092B-C50C-407E-A947-70E740481C1C}">
                <a14:useLocalDpi xmlns:a14="http://schemas.microsoft.com/office/drawing/2010/main" val="0"/>
              </a:ext>
            </a:extLst>
          </a:blip>
          <a:srcRect l="1922" t="57198" r="77368" b="35083"/>
          <a:stretch/>
        </p:blipFill>
        <p:spPr bwMode="auto">
          <a:xfrm>
            <a:off x="5084803" y="7052759"/>
            <a:ext cx="2247900" cy="558800"/>
          </a:xfrm>
          <a:prstGeom prst="rect">
            <a:avLst/>
          </a:prstGeom>
          <a:ln>
            <a:noFill/>
          </a:ln>
          <a:effectLst>
            <a:glow rad="139700">
              <a:schemeClr val="bg1">
                <a:alpha val="40000"/>
              </a:schemeClr>
            </a:glow>
          </a:effectLst>
          <a:extLst>
            <a:ext uri="{53640926-AAD7-44D8-BBD7-CCE9431645EC}">
              <a14:shadowObscured xmlns:a14="http://schemas.microsoft.com/office/drawing/2010/main"/>
            </a:ext>
          </a:extLst>
        </p:spPr>
      </p:pic>
      <p:pic>
        <p:nvPicPr>
          <p:cNvPr id="35" name="Imagen 34"/>
          <p:cNvPicPr/>
          <p:nvPr/>
        </p:nvPicPr>
        <p:blipFill rotWithShape="1">
          <a:blip r:embed="rId2">
            <a:extLst>
              <a:ext uri="{28A0092B-C50C-407E-A947-70E740481C1C}">
                <a14:useLocalDpi xmlns:a14="http://schemas.microsoft.com/office/drawing/2010/main" val="0"/>
              </a:ext>
            </a:extLst>
          </a:blip>
          <a:srcRect l="1922" t="67138" r="77368" b="25496"/>
          <a:stretch/>
        </p:blipFill>
        <p:spPr bwMode="auto">
          <a:xfrm>
            <a:off x="3715110" y="6333305"/>
            <a:ext cx="2245995" cy="526415"/>
          </a:xfrm>
          <a:prstGeom prst="rect">
            <a:avLst/>
          </a:prstGeom>
          <a:ln>
            <a:noFill/>
          </a:ln>
          <a:effectLst>
            <a:glow rad="139700">
              <a:schemeClr val="bg1">
                <a:alpha val="40000"/>
              </a:schemeClr>
            </a:glow>
          </a:effectLst>
          <a:extLst>
            <a:ext uri="{53640926-AAD7-44D8-BBD7-CCE9431645EC}">
              <a14:shadowObscured xmlns:a14="http://schemas.microsoft.com/office/drawing/2010/main"/>
            </a:ext>
          </a:extLst>
        </p:spPr>
      </p:pic>
      <p:pic>
        <p:nvPicPr>
          <p:cNvPr id="36" name="Imagen 35"/>
          <p:cNvPicPr/>
          <p:nvPr/>
        </p:nvPicPr>
        <p:blipFill rotWithShape="1">
          <a:blip r:embed="rId3">
            <a:extLst>
              <a:ext uri="{28A0092B-C50C-407E-A947-70E740481C1C}">
                <a14:useLocalDpi xmlns:a14="http://schemas.microsoft.com/office/drawing/2010/main" val="0"/>
              </a:ext>
            </a:extLst>
          </a:blip>
          <a:srcRect l="1817" t="76806" r="77342" b="15399"/>
          <a:stretch/>
        </p:blipFill>
        <p:spPr bwMode="auto">
          <a:xfrm>
            <a:off x="6562993" y="6333305"/>
            <a:ext cx="2244725" cy="525145"/>
          </a:xfrm>
          <a:prstGeom prst="rect">
            <a:avLst/>
          </a:prstGeom>
          <a:ln>
            <a:noFill/>
          </a:ln>
          <a:effectLst>
            <a:glow rad="139700">
              <a:schemeClr val="bg1">
                <a:alpha val="40000"/>
              </a:schemeClr>
            </a:glow>
          </a:effectLst>
          <a:extLst>
            <a:ext uri="{53640926-AAD7-44D8-BBD7-CCE9431645EC}">
              <a14:shadowObscured xmlns:a14="http://schemas.microsoft.com/office/drawing/2010/main"/>
            </a:ext>
          </a:extLst>
        </p:spPr>
      </p:pic>
      <p:pic>
        <p:nvPicPr>
          <p:cNvPr id="37" name="Imagen 36"/>
          <p:cNvPicPr/>
          <p:nvPr/>
        </p:nvPicPr>
        <p:blipFill rotWithShape="1">
          <a:blip r:embed="rId4">
            <a:extLst>
              <a:ext uri="{28A0092B-C50C-407E-A947-70E740481C1C}">
                <a14:useLocalDpi xmlns:a14="http://schemas.microsoft.com/office/drawing/2010/main" val="0"/>
              </a:ext>
            </a:extLst>
          </a:blip>
          <a:srcRect l="2107" t="26141" r="49942" b="45676"/>
          <a:stretch/>
        </p:blipFill>
        <p:spPr bwMode="auto">
          <a:xfrm>
            <a:off x="3511410" y="4426084"/>
            <a:ext cx="5365750" cy="1636395"/>
          </a:xfrm>
          <a:prstGeom prst="rect">
            <a:avLst/>
          </a:prstGeom>
          <a:ln>
            <a:noFill/>
          </a:ln>
          <a:effectLst>
            <a:glow rad="139700">
              <a:schemeClr val="bg1">
                <a:alpha val="40000"/>
              </a:schemeClr>
            </a:glow>
          </a:effectLst>
          <a:extLst>
            <a:ext uri="{53640926-AAD7-44D8-BBD7-CCE9431645EC}">
              <a14:shadowObscured xmlns:a14="http://schemas.microsoft.com/office/drawing/2010/main"/>
            </a:ext>
          </a:extLst>
        </p:spPr>
      </p:pic>
      <p:pic>
        <p:nvPicPr>
          <p:cNvPr id="38" name="Imagen 37"/>
          <p:cNvPicPr/>
          <p:nvPr/>
        </p:nvPicPr>
        <p:blipFill rotWithShape="1">
          <a:blip r:embed="rId5">
            <a:extLst>
              <a:ext uri="{28A0092B-C50C-407E-A947-70E740481C1C}">
                <a14:useLocalDpi xmlns:a14="http://schemas.microsoft.com/office/drawing/2010/main" val="0"/>
              </a:ext>
            </a:extLst>
          </a:blip>
          <a:srcRect l="1916" t="23912" r="30794" b="30475"/>
          <a:stretch/>
        </p:blipFill>
        <p:spPr bwMode="auto">
          <a:xfrm>
            <a:off x="2775626" y="566438"/>
            <a:ext cx="6866255" cy="2510155"/>
          </a:xfrm>
          <a:prstGeom prst="rect">
            <a:avLst/>
          </a:prstGeom>
          <a:ln>
            <a:noFill/>
          </a:ln>
          <a:effectLst>
            <a:glow rad="139700">
              <a:schemeClr val="bg1">
                <a:alpha val="40000"/>
              </a:schemeClr>
            </a:glow>
          </a:effectLst>
          <a:extLst>
            <a:ext uri="{53640926-AAD7-44D8-BBD7-CCE9431645EC}">
              <a14:shadowObscured xmlns:a14="http://schemas.microsoft.com/office/drawing/2010/main"/>
            </a:ext>
          </a:extLst>
        </p:spPr>
      </p:pic>
      <p:sp>
        <p:nvSpPr>
          <p:cNvPr id="39" name="CuadroTexto 38"/>
          <p:cNvSpPr txBox="1"/>
          <p:nvPr/>
        </p:nvSpPr>
        <p:spPr>
          <a:xfrm>
            <a:off x="4049337" y="-1669407"/>
            <a:ext cx="4289898" cy="646331"/>
          </a:xfrm>
          <a:prstGeom prst="rect">
            <a:avLst/>
          </a:prstGeom>
          <a:noFill/>
        </p:spPr>
        <p:txBody>
          <a:bodyPr wrap="square" rtlCol="0">
            <a:spAutoFit/>
          </a:bodyPr>
          <a:lstStyle/>
          <a:p>
            <a:pPr algn="ctr"/>
            <a:r>
              <a:rPr lang="es-MX" sz="3600" dirty="0" smtClean="0">
                <a:solidFill>
                  <a:schemeClr val="bg1"/>
                </a:solidFill>
                <a:effectLst>
                  <a:glow rad="63500">
                    <a:schemeClr val="accent1">
                      <a:satMod val="175000"/>
                      <a:alpha val="40000"/>
                    </a:schemeClr>
                  </a:glow>
                </a:effectLst>
                <a:latin typeface="Franklin Gothic Demi Cond" panose="020B0706030402020204" pitchFamily="34" charset="0"/>
                <a:ea typeface="Adobe Gothic Std B" panose="020B0800000000000000" pitchFamily="34" charset="-128"/>
              </a:rPr>
              <a:t>Planes y Servicios</a:t>
            </a:r>
            <a:endParaRPr lang="es-MX" sz="3600" dirty="0">
              <a:solidFill>
                <a:schemeClr val="bg1"/>
              </a:solidFill>
              <a:effectLst>
                <a:glow rad="63500">
                  <a:schemeClr val="accent1">
                    <a:satMod val="175000"/>
                    <a:alpha val="40000"/>
                  </a:schemeClr>
                </a:glow>
              </a:effectLst>
              <a:latin typeface="Franklin Gothic Demi Cond" panose="020B0706030402020204" pitchFamily="34" charset="0"/>
              <a:ea typeface="Adobe Gothic Std B" panose="020B0800000000000000" pitchFamily="34" charset="-128"/>
            </a:endParaRPr>
          </a:p>
        </p:txBody>
      </p:sp>
      <p:sp>
        <p:nvSpPr>
          <p:cNvPr id="40" name="CuadroTexto 39"/>
          <p:cNvSpPr txBox="1"/>
          <p:nvPr/>
        </p:nvSpPr>
        <p:spPr>
          <a:xfrm>
            <a:off x="1574187" y="3192056"/>
            <a:ext cx="9240197" cy="923330"/>
          </a:xfrm>
          <a:prstGeom prst="rect">
            <a:avLst/>
          </a:prstGeom>
          <a:noFill/>
        </p:spPr>
        <p:txBody>
          <a:bodyPr wrap="square" rtlCol="0">
            <a:spAutoFit/>
          </a:bodyPr>
          <a:lstStyle/>
          <a:p>
            <a:pPr algn="ctr"/>
            <a:r>
              <a:rPr lang="es-MX" dirty="0" smtClean="0">
                <a:solidFill>
                  <a:schemeClr val="bg1"/>
                </a:solidFill>
              </a:rPr>
              <a:t>La primera tabla (PRESUPUESTO SITIO WEB) contiene planes con características diferentes los cuales dependiendo de las mismas se aplica una tarifa especial dándole la oportunidad de elegir el que más le guste y se ajuste a sus necesidades.</a:t>
            </a:r>
            <a:endParaRPr lang="es-MX" dirty="0">
              <a:solidFill>
                <a:schemeClr val="bg1"/>
              </a:solidFill>
            </a:endParaRPr>
          </a:p>
        </p:txBody>
      </p:sp>
      <p:sp>
        <p:nvSpPr>
          <p:cNvPr id="41" name="Rectángulo 40"/>
          <p:cNvSpPr/>
          <p:nvPr/>
        </p:nvSpPr>
        <p:spPr>
          <a:xfrm>
            <a:off x="3985983" y="2937857"/>
            <a:ext cx="869906" cy="12820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2" name="CuadroTexto 41"/>
          <p:cNvSpPr txBox="1"/>
          <p:nvPr/>
        </p:nvSpPr>
        <p:spPr>
          <a:xfrm>
            <a:off x="4049336" y="2868212"/>
            <a:ext cx="852147" cy="276999"/>
          </a:xfrm>
          <a:prstGeom prst="rect">
            <a:avLst/>
          </a:prstGeom>
          <a:noFill/>
        </p:spPr>
        <p:txBody>
          <a:bodyPr wrap="square" rtlCol="0">
            <a:spAutoFit/>
          </a:bodyPr>
          <a:lstStyle/>
          <a:p>
            <a:r>
              <a:rPr lang="es-MX" sz="1200" b="1" dirty="0" smtClean="0">
                <a:solidFill>
                  <a:schemeClr val="bg1"/>
                </a:solidFill>
                <a:latin typeface="Calibri" panose="020F0502020204030204" pitchFamily="34" charset="0"/>
                <a:cs typeface="Aharoni" panose="02010803020104030203" pitchFamily="2" charset="-79"/>
              </a:rPr>
              <a:t>$ 1,300.00</a:t>
            </a:r>
            <a:endParaRPr lang="es-MX" sz="1200" b="1" dirty="0">
              <a:solidFill>
                <a:schemeClr val="bg1"/>
              </a:solidFill>
              <a:latin typeface="Calibri" panose="020F0502020204030204" pitchFamily="34" charset="0"/>
              <a:cs typeface="Aharoni" panose="02010803020104030203" pitchFamily="2" charset="-79"/>
            </a:endParaRPr>
          </a:p>
        </p:txBody>
      </p:sp>
    </p:spTree>
    <p:extLst>
      <p:ext uri="{BB962C8B-B14F-4D97-AF65-F5344CB8AC3E}">
        <p14:creationId xmlns:p14="http://schemas.microsoft.com/office/powerpoint/2010/main" val="1080696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165</Words>
  <Application>Microsoft Office PowerPoint</Application>
  <PresentationFormat>Panorámica</PresentationFormat>
  <Paragraphs>7</Paragraphs>
  <Slides>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vt:i4>
      </vt:variant>
    </vt:vector>
  </HeadingPairs>
  <TitlesOfParts>
    <vt:vector size="8" baseType="lpstr">
      <vt:lpstr>Adobe Gothic Std B</vt:lpstr>
      <vt:lpstr>Aharoni</vt:lpstr>
      <vt:lpstr>Arial</vt:lpstr>
      <vt:lpstr>Calibri</vt:lpstr>
      <vt:lpstr>Calibri Light</vt:lpstr>
      <vt:lpstr>Franklin Gothic Demi Cond</vt:lpstr>
      <vt:lpstr>Tema de Office</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Zamora</dc:creator>
  <cp:lastModifiedBy>Jorge Zamora</cp:lastModifiedBy>
  <cp:revision>11</cp:revision>
  <dcterms:created xsi:type="dcterms:W3CDTF">2014-12-10T00:42:04Z</dcterms:created>
  <dcterms:modified xsi:type="dcterms:W3CDTF">2015-05-04T03:29:38Z</dcterms:modified>
</cp:coreProperties>
</file>